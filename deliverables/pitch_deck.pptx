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698480" cy="1005840"/>
          </a:xfrm>
          <a:prstGeom prst="rect">
            <a:avLst/>
          </a:prstGeom>
          <a:noFill/>
        </p:spPr>
        <p:txBody>
          <a:bodyPr wrap="square">
            <a:spAutoFit/>
          </a:bodyPr>
          <a:lstStyle/>
          <a:p>
            <a:pPr>
              <a:defRPr sz="2800" b="1">
                <a:solidFill>
                  <a:srgbClr val="0F172A"/>
                </a:solidFill>
              </a:defRPr>
            </a:pPr>
            <a:r>
              <a:t>SIGNALFIRE AI</a:t>
            </a:r>
          </a:p>
          <a:p>
            <a:pPr>
              <a:defRPr sz="1300">
                <a:solidFill>
                  <a:srgbClr val="6366F1"/>
                </a:solidFill>
              </a:defRPr>
            </a:pPr>
            <a:r>
              <a:t>Find the warning signs hidden across your data.</a:t>
            </a:r>
          </a:p>
        </p:txBody>
      </p:sp>
      <p:sp>
        <p:nvSpPr>
          <p:cNvPr id="3" name="Rounded Rectangle 2"/>
          <p:cNvSpPr/>
          <p:nvPr/>
        </p:nvSpPr>
        <p:spPr>
          <a:xfrm>
            <a:off x="731520" y="1645920"/>
            <a:ext cx="10728655" cy="46634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149840" cy="4297680"/>
          </a:xfrm>
          <a:prstGeom prst="rect">
            <a:avLst/>
          </a:prstGeom>
          <a:noFill/>
        </p:spPr>
        <p:txBody>
          <a:bodyPr wrap="square">
            <a:spAutoFit/>
          </a:bodyPr>
          <a:lstStyle/>
          <a:p>
            <a:pPr>
              <a:spcAft>
                <a:spcPts val="1000"/>
              </a:spcAft>
              <a:defRPr sz="1350">
                <a:solidFill>
                  <a:srgbClr val="0F172A"/>
                </a:solidFill>
              </a:defRPr>
            </a:pPr>
            <a:r>
              <a:t>• Demonstration Domain: Enterprise Retail &amp; Supply Chain Operations</a:t>
            </a:r>
          </a:p>
          <a:p>
            <a:pPr>
              <a:spcAft>
                <a:spcPts val="1000"/>
              </a:spcAft>
              <a:defRPr sz="1350">
                <a:solidFill>
                  <a:srgbClr val="0F172A"/>
                </a:solidFill>
              </a:defRPr>
            </a:pPr>
            <a:r>
              <a:t>• Built with Exasol Personal, FastAPI, React, and Robust Multi-Metric Analytics</a:t>
            </a:r>
          </a:p>
          <a:p>
            <a:pPr>
              <a:spcAft>
                <a:spcPts val="1000"/>
              </a:spcAft>
              <a:defRPr sz="1350">
                <a:solidFill>
                  <a:srgbClr val="0F172A"/>
                </a:solidFill>
              </a:defRPr>
            </a:pPr>
            <a:r>
              <a:t>• Autonomous Hackathon Submission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698480" cy="1005840"/>
          </a:xfrm>
          <a:prstGeom prst="rect">
            <a:avLst/>
          </a:prstGeom>
          <a:noFill/>
        </p:spPr>
        <p:txBody>
          <a:bodyPr wrap="square">
            <a:spAutoFit/>
          </a:bodyPr>
          <a:lstStyle/>
          <a:p>
            <a:pPr>
              <a:defRPr sz="2800" b="1">
                <a:solidFill>
                  <a:srgbClr val="0F172A"/>
                </a:solidFill>
              </a:defRPr>
            </a:pPr>
            <a:r>
              <a:t>The Operational Problem</a:t>
            </a:r>
          </a:p>
          <a:p>
            <a:pPr>
              <a:defRPr sz="1300">
                <a:solidFill>
                  <a:srgbClr val="6366F1"/>
                </a:solidFill>
              </a:defRPr>
            </a:pPr>
            <a:r>
              <a:t>Why siloed metrics obscure developing operational crises</a:t>
            </a:r>
          </a:p>
        </p:txBody>
      </p:sp>
      <p:sp>
        <p:nvSpPr>
          <p:cNvPr id="3" name="Rounded Rectangle 2"/>
          <p:cNvSpPr/>
          <p:nvPr/>
        </p:nvSpPr>
        <p:spPr>
          <a:xfrm>
            <a:off x="731520" y="1645920"/>
            <a:ext cx="10728655" cy="46634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149840" cy="4297680"/>
          </a:xfrm>
          <a:prstGeom prst="rect">
            <a:avLst/>
          </a:prstGeom>
          <a:noFill/>
        </p:spPr>
        <p:txBody>
          <a:bodyPr wrap="square">
            <a:spAutoFit/>
          </a:bodyPr>
          <a:lstStyle/>
          <a:p>
            <a:pPr>
              <a:spcAft>
                <a:spcPts val="1400"/>
              </a:spcAft>
              <a:defRPr sz="1300">
                <a:solidFill>
                  <a:srgbClr val="0F172A"/>
                </a:solidFill>
              </a:defRPr>
            </a:pPr>
            <a:r>
              <a:t>Retail operations teams often struggle to identify emerging operational problems because sales, inventory, delivery, refund, and customer complaint data are analyzed separately. Small changes across individual metrics may appear harmless, even when their combined pattern indicates a developing problem. Manually reviewing these datasets is time-consuming and depends heavily on predefined alerts. SIGNALFIRE AI aims to help analysts discover unusual cross-metric patterns, investigate supporting evidence, and prioritize potential operational risks before they escalate.</a:t>
            </a:r>
          </a:p>
          <a:p>
            <a:pPr>
              <a:spcAft>
                <a:spcPts val="1000"/>
              </a:spcAft>
              <a:defRPr sz="1350">
                <a:solidFill>
                  <a:srgbClr val="0F172A"/>
                </a:solidFill>
              </a:defRPr>
            </a:pPr>
            <a:r>
              <a:t>• Target Audience: Retail operations managers, supply chain analysts, and risk teams.</a:t>
            </a:r>
          </a:p>
          <a:p>
            <a:pPr>
              <a:spcAft>
                <a:spcPts val="1000"/>
              </a:spcAft>
              <a:defRPr sz="1350">
                <a:solidFill>
                  <a:srgbClr val="0F172A"/>
                </a:solidFill>
              </a:defRPr>
            </a:pPr>
            <a:r>
              <a:t>• The Impact: Uncoordinated alerts result in delayed root-cause diagnosis and compounding customer churn.</a:t>
            </a:r>
          </a:p>
          <a:p>
            <a:pPr>
              <a:spcAft>
                <a:spcPts val="1000"/>
              </a:spcAft>
              <a:defRPr sz="1350">
                <a:solidFill>
                  <a:srgbClr val="0F172A"/>
                </a:solidFill>
              </a:defRPr>
            </a:pPr>
            <a:r>
              <a:t>• The Boundary: We do not claim all monitoring systems fail—only that siloed metric alerts miss multi-table cascades.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698480" cy="1005840"/>
          </a:xfrm>
          <a:prstGeom prst="rect">
            <a:avLst/>
          </a:prstGeom>
          <a:noFill/>
        </p:spPr>
        <p:txBody>
          <a:bodyPr wrap="square">
            <a:spAutoFit/>
          </a:bodyPr>
          <a:lstStyle/>
          <a:p>
            <a:pPr>
              <a:defRPr sz="2800" b="1">
                <a:solidFill>
                  <a:srgbClr val="0F172A"/>
                </a:solidFill>
              </a:defRPr>
            </a:pPr>
            <a:r>
              <a:t>Why Existing Dashboards Miss Cross-Metric Risks</a:t>
            </a:r>
          </a:p>
          <a:p>
            <a:pPr>
              <a:defRPr sz="1300">
                <a:solidFill>
                  <a:srgbClr val="6366F1"/>
                </a:solidFill>
              </a:defRPr>
            </a:pPr>
            <a:r>
              <a:t>Independent metric thresholds fail when small changes co-occur across tables</a:t>
            </a:r>
          </a:p>
        </p:txBody>
      </p:sp>
      <p:sp>
        <p:nvSpPr>
          <p:cNvPr id="3" name="Rounded Rectangle 2"/>
          <p:cNvSpPr/>
          <p:nvPr/>
        </p:nvSpPr>
        <p:spPr>
          <a:xfrm>
            <a:off x="731520" y="1645920"/>
            <a:ext cx="10728655" cy="46634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149840" cy="4297680"/>
          </a:xfrm>
          <a:prstGeom prst="rect">
            <a:avLst/>
          </a:prstGeom>
          <a:noFill/>
        </p:spPr>
        <p:txBody>
          <a:bodyPr wrap="square">
            <a:spAutoFit/>
          </a:bodyPr>
          <a:lstStyle/>
          <a:p>
            <a:pPr>
              <a:spcAft>
                <a:spcPts val="1000"/>
              </a:spcAft>
              <a:defRPr sz="1350">
                <a:solidFill>
                  <a:srgbClr val="0F172A"/>
                </a:solidFill>
              </a:defRPr>
            </a:pPr>
            <a:r>
              <a:t>• Independent Alerting: Delivery alerts only fire on severe transit breaches, while refunds and complaints have separate arbitrary cutoffs.</a:t>
            </a:r>
          </a:p>
          <a:p>
            <a:pPr>
              <a:spcAft>
                <a:spcPts val="1000"/>
              </a:spcAft>
              <a:defRPr sz="1350">
                <a:solidFill>
                  <a:srgbClr val="0F172A"/>
                </a:solidFill>
              </a:defRPr>
            </a:pPr>
            <a:r>
              <a:t>• Lack of Temporal Synchronization: A delivery delay today creates customer complaints in 2 days and returns in 4 days. Unaligned tools miss the lag.</a:t>
            </a:r>
          </a:p>
          <a:p>
            <a:pPr>
              <a:spcAft>
                <a:spcPts val="1000"/>
              </a:spcAft>
              <a:defRPr sz="1350">
                <a:solidFill>
                  <a:srgbClr val="0F172A"/>
                </a:solidFill>
              </a:defRPr>
            </a:pPr>
            <a:r>
              <a:t>• Excessive False Positives: Static percentage thresholds fire erratically on normal weekend seasonality without noise-robust MAD filtering.</a:t>
            </a:r>
          </a:p>
          <a:p>
            <a:pPr>
              <a:spcAft>
                <a:spcPts val="1000"/>
              </a:spcAft>
              <a:defRPr sz="1350">
                <a:solidFill>
                  <a:srgbClr val="0F172A"/>
                </a:solidFill>
              </a:defRPr>
            </a:pPr>
            <a:r>
              <a:t>• Absence of Unaffected Control Cohorts: Dashboards lack automated contrast between localized incident regions (North) and unaffected controls (South, East, West).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698480" cy="1005840"/>
          </a:xfrm>
          <a:prstGeom prst="rect">
            <a:avLst/>
          </a:prstGeom>
          <a:noFill/>
        </p:spPr>
        <p:txBody>
          <a:bodyPr wrap="square">
            <a:spAutoFit/>
          </a:bodyPr>
          <a:lstStyle/>
          <a:p>
            <a:pPr>
              <a:defRPr sz="2800" b="1">
                <a:solidFill>
                  <a:srgbClr val="0F172A"/>
                </a:solidFill>
              </a:defRPr>
            </a:pPr>
            <a:r>
              <a:t>The SIGNALFIRE AI Solution</a:t>
            </a:r>
          </a:p>
          <a:p>
            <a:pPr>
              <a:defRPr sz="1300">
                <a:solidFill>
                  <a:srgbClr val="6366F1"/>
                </a:solidFill>
              </a:defRPr>
            </a:pPr>
            <a:r>
              <a:t>A principled 5-stage analytical pipeline that separates facts from hypotheses</a:t>
            </a:r>
          </a:p>
        </p:txBody>
      </p:sp>
      <p:sp>
        <p:nvSpPr>
          <p:cNvPr id="3" name="Rounded Rectangle 2"/>
          <p:cNvSpPr/>
          <p:nvPr/>
        </p:nvSpPr>
        <p:spPr>
          <a:xfrm>
            <a:off x="731520" y="1645920"/>
            <a:ext cx="10728655" cy="46634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149840" cy="4297680"/>
          </a:xfrm>
          <a:prstGeom prst="rect">
            <a:avLst/>
          </a:prstGeom>
          <a:noFill/>
        </p:spPr>
        <p:txBody>
          <a:bodyPr wrap="square">
            <a:spAutoFit/>
          </a:bodyPr>
          <a:lstStyle/>
          <a:p>
            <a:pPr>
              <a:spcAft>
                <a:spcPts val="1000"/>
              </a:spcAft>
              <a:defRPr sz="1350">
                <a:solidFill>
                  <a:srgbClr val="0F172A"/>
                </a:solidFill>
              </a:defRPr>
            </a:pPr>
            <a:r>
              <a:t>• 1. Independent Anomaly Detection: Robust Z-scores via Median Absolute Deviation (MAD) and Interquartile Range (IQR) fences across 8 relational tables.</a:t>
            </a:r>
          </a:p>
          <a:p>
            <a:pPr>
              <a:spcAft>
                <a:spcPts val="1000"/>
              </a:spcAft>
              <a:defRPr sz="1350">
                <a:solidFill>
                  <a:srgbClr val="0F172A"/>
                </a:solidFill>
              </a:defRPr>
            </a:pPr>
            <a:r>
              <a:t>• 2. Multi-Dataset Temporal Alignment: Daily/weekly synchronization isolating co-occurring signals across orders, dispatches, complaints, and returns.</a:t>
            </a:r>
          </a:p>
          <a:p>
            <a:pPr>
              <a:spcAft>
                <a:spcPts val="1000"/>
              </a:spcAft>
              <a:defRPr sz="1350">
                <a:solidFill>
                  <a:srgbClr val="0F172A"/>
                </a:solidFill>
              </a:defRPr>
            </a:pPr>
            <a:r>
              <a:t>• 3. Statistical Association Engine: Empirical Pearson and Spearman correlation analysis with automated lead-lag offset estimation.</a:t>
            </a:r>
          </a:p>
          <a:p>
            <a:pPr>
              <a:spcAft>
                <a:spcPts val="1000"/>
              </a:spcAft>
              <a:defRPr sz="1350">
                <a:solidFill>
                  <a:srgbClr val="0F172A"/>
                </a:solidFill>
              </a:defRPr>
            </a:pPr>
            <a:r>
              <a:t>• 4. Unaffected Cohort Benchmarking: Automated contrast of target incident segments against non-incident control cohorts.</a:t>
            </a:r>
          </a:p>
          <a:p>
            <a:pPr>
              <a:spcAft>
                <a:spcPts val="1000"/>
              </a:spcAft>
              <a:defRPr sz="1350">
                <a:solidFill>
                  <a:srgbClr val="0F172A"/>
                </a:solidFill>
              </a:defRPr>
            </a:pPr>
            <a:r>
              <a:t>• 5. Disciplined Synthesis: Explicit, tamper-proof separation of Observed Facts, Statistical Associations, Hypotheses, Competing Explanations, and Recommendations.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698480" cy="1005840"/>
          </a:xfrm>
          <a:prstGeom prst="rect">
            <a:avLst/>
          </a:prstGeom>
          <a:noFill/>
        </p:spPr>
        <p:txBody>
          <a:bodyPr wrap="square">
            <a:spAutoFit/>
          </a:bodyPr>
          <a:lstStyle/>
          <a:p>
            <a:pPr>
              <a:defRPr sz="2800" b="1">
                <a:solidFill>
                  <a:srgbClr val="0F172A"/>
                </a:solidFill>
              </a:defRPr>
            </a:pPr>
            <a:r>
              <a:t>Live Product Architecture &amp; User Journey</a:t>
            </a:r>
          </a:p>
          <a:p>
            <a:pPr>
              <a:defRPr sz="1300">
                <a:solidFill>
                  <a:srgbClr val="6366F1"/>
                </a:solidFill>
              </a:defRPr>
            </a:pPr>
            <a:r>
              <a:t>From raw table ingestion to decision-support and audit-ready reporting</a:t>
            </a:r>
          </a:p>
        </p:txBody>
      </p:sp>
      <p:sp>
        <p:nvSpPr>
          <p:cNvPr id="3" name="Rounded Rectangle 2"/>
          <p:cNvSpPr/>
          <p:nvPr/>
        </p:nvSpPr>
        <p:spPr>
          <a:xfrm>
            <a:off x="731520" y="1645920"/>
            <a:ext cx="10728655" cy="46634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149840" cy="4297680"/>
          </a:xfrm>
          <a:prstGeom prst="rect">
            <a:avLst/>
          </a:prstGeom>
          <a:noFill/>
        </p:spPr>
        <p:txBody>
          <a:bodyPr wrap="square">
            <a:spAutoFit/>
          </a:bodyPr>
          <a:lstStyle/>
          <a:p>
            <a:pPr>
              <a:spcAft>
                <a:spcPts val="1000"/>
              </a:spcAft>
              <a:defRPr sz="1350">
                <a:solidFill>
                  <a:srgbClr val="0F172A"/>
                </a:solidFill>
              </a:defRPr>
            </a:pPr>
            <a:r>
              <a:t>• Overview Dashboard: Live KPI pulse, signal onset trend curves, risk severity breakdown, and live database engine indicator.</a:t>
            </a:r>
          </a:p>
          <a:p>
            <a:pPr>
              <a:spcAft>
                <a:spcPts val="1000"/>
              </a:spcAft>
              <a:defRPr sz="1350">
                <a:solidFill>
                  <a:srgbClr val="0F172A"/>
                </a:solidFill>
              </a:defRPr>
            </a:pPr>
            <a:r>
              <a:t>• Data Explorer &amp; Profiler: Schema inspector, missing value percentages, record preview with search/filter, and safe CSV upload.</a:t>
            </a:r>
          </a:p>
          <a:p>
            <a:pPr>
              <a:spcAft>
                <a:spcPts val="1000"/>
              </a:spcAft>
              <a:defRPr sz="1350">
                <a:solidFill>
                  <a:srgbClr val="0F172A"/>
                </a:solidFill>
              </a:defRPr>
            </a:pPr>
            <a:r>
              <a:t>• Signal Detection Engine: Granular inspection of observed vs baseline metrics, confidence scores, and detection methods.</a:t>
            </a:r>
          </a:p>
          <a:p>
            <a:pPr>
              <a:spcAft>
                <a:spcPts val="1000"/>
              </a:spcAft>
              <a:defRPr sz="1350">
                <a:solidFill>
                  <a:srgbClr val="0F172A"/>
                </a:solidFill>
              </a:defRPr>
            </a:pPr>
            <a:r>
              <a:t>• Cross-Metric Investigation: Co-occurrence clusters, lead-lag offsets, and control cohort comparisons.</a:t>
            </a:r>
          </a:p>
          <a:p>
            <a:pPr>
              <a:spcAft>
                <a:spcPts val="1000"/>
              </a:spcAft>
              <a:defRPr sz="1350">
                <a:solidFill>
                  <a:srgbClr val="0F172A"/>
                </a:solidFill>
              </a:defRPr>
            </a:pPr>
            <a:r>
              <a:t>• Interactive Risk Map &amp; Workspace: Topological segment network, priority assignments (P1-P3), and conclusion logging.</a:t>
            </a:r>
          </a:p>
          <a:p>
            <a:pPr>
              <a:spcAft>
                <a:spcPts val="1000"/>
              </a:spcAft>
              <a:defRPr sz="1350">
                <a:solidFill>
                  <a:srgbClr val="0F172A"/>
                </a:solidFill>
              </a:defRPr>
            </a:pPr>
            <a:r>
              <a:t>• What-If Stress Testing &amp; Export: Arithmetic vs model projections, and one-click Executive PDF/JSON/CSV downloads.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698480" cy="1005840"/>
          </a:xfrm>
          <a:prstGeom prst="rect">
            <a:avLst/>
          </a:prstGeom>
          <a:noFill/>
        </p:spPr>
        <p:txBody>
          <a:bodyPr wrap="square">
            <a:spAutoFit/>
          </a:bodyPr>
          <a:lstStyle/>
          <a:p>
            <a:pPr>
              <a:defRPr sz="2800" b="1">
                <a:solidFill>
                  <a:srgbClr val="0F172A"/>
                </a:solidFill>
              </a:defRPr>
            </a:pPr>
            <a:r>
              <a:t>Technical Architecture &amp; Exasol Integration</a:t>
            </a:r>
          </a:p>
          <a:p>
            <a:pPr>
              <a:defRPr sz="1300">
                <a:solidFill>
                  <a:srgbClr val="6366F1"/>
                </a:solidFill>
              </a:defRPr>
            </a:pPr>
            <a:r>
              <a:t>High-throughput SQL analytics with seamless local fallback transparency</a:t>
            </a:r>
          </a:p>
        </p:txBody>
      </p:sp>
      <p:sp>
        <p:nvSpPr>
          <p:cNvPr id="3" name="Rounded Rectangle 2"/>
          <p:cNvSpPr/>
          <p:nvPr/>
        </p:nvSpPr>
        <p:spPr>
          <a:xfrm>
            <a:off x="731520" y="1645920"/>
            <a:ext cx="10728655" cy="46634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149840" cy="4297680"/>
          </a:xfrm>
          <a:prstGeom prst="rect">
            <a:avLst/>
          </a:prstGeom>
          <a:noFill/>
        </p:spPr>
        <p:txBody>
          <a:bodyPr wrap="square">
            <a:spAutoFit/>
          </a:bodyPr>
          <a:lstStyle/>
          <a:p>
            <a:pPr>
              <a:spcAft>
                <a:spcPts val="1000"/>
              </a:spcAft>
              <a:defRPr sz="1350">
                <a:solidFill>
                  <a:srgbClr val="0F172A"/>
                </a:solidFill>
              </a:defRPr>
            </a:pPr>
            <a:r>
              <a:t>• Analytical Storage Layer: Native Exasol Personal integration via official pyexasol driver (WebSocket JSON-RPC).</a:t>
            </a:r>
          </a:p>
          <a:p>
            <a:pPr>
              <a:spcAft>
                <a:spcPts val="1000"/>
              </a:spcAft>
              <a:defRPr sz="1350">
                <a:solidFill>
                  <a:srgbClr val="0F172A"/>
                </a:solidFill>
              </a:defRPr>
            </a:pPr>
            <a:r>
              <a:t>• Database Adapter Architecture: Unified DatabaseAdapter interface supporting Exasol Personal and DuckDB in-process OLAP.</a:t>
            </a:r>
          </a:p>
          <a:p>
            <a:pPr>
              <a:spcAft>
                <a:spcPts val="1000"/>
              </a:spcAft>
              <a:defRPr sz="1350">
                <a:solidFill>
                  <a:srgbClr val="0F172A"/>
                </a:solidFill>
              </a:defRPr>
            </a:pPr>
            <a:r>
              <a:t>• Status Transparency: Clear indicator in UI and API ('Exasol Personal' vs 'DuckDB Local'). Never mislabels local calculations.</a:t>
            </a:r>
          </a:p>
          <a:p>
            <a:pPr>
              <a:spcAft>
                <a:spcPts val="1000"/>
              </a:spcAft>
              <a:defRPr sz="1350">
                <a:solidFill>
                  <a:srgbClr val="0F172A"/>
                </a:solidFill>
              </a:defRPr>
            </a:pPr>
            <a:r>
              <a:t>• API &amp; Analytical Core: FastAPI, Pydantic v2, Pandas, NumPy, Scikit-learn, SciPy, and ReportLab.</a:t>
            </a:r>
          </a:p>
          <a:p>
            <a:pPr>
              <a:spcAft>
                <a:spcPts val="1000"/>
              </a:spcAft>
              <a:defRPr sz="1350">
                <a:solidFill>
                  <a:srgbClr val="0F172A"/>
                </a:solidFill>
              </a:defRPr>
            </a:pPr>
            <a:r>
              <a:t>• Frontend Design Language: React, TypeScript, Vite, Tailwind CSS, Recharts, and refined 3D glassmorphism.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698480" cy="1005840"/>
          </a:xfrm>
          <a:prstGeom prst="rect">
            <a:avLst/>
          </a:prstGeom>
          <a:noFill/>
        </p:spPr>
        <p:txBody>
          <a:bodyPr wrap="square">
            <a:spAutoFit/>
          </a:bodyPr>
          <a:lstStyle/>
          <a:p>
            <a:pPr>
              <a:defRPr sz="2800" b="1">
                <a:solidFill>
                  <a:srgbClr val="0F172A"/>
                </a:solidFill>
              </a:defRPr>
            </a:pPr>
            <a:r>
              <a:t>Innovation &amp; Differentiating Principles</a:t>
            </a:r>
          </a:p>
          <a:p>
            <a:pPr>
              <a:defRPr sz="1300">
                <a:solidFill>
                  <a:srgbClr val="6366F1"/>
                </a:solidFill>
              </a:defRPr>
            </a:pPr>
            <a:r>
              <a:t>Credible, research-backed capabilities without hype or false claims</a:t>
            </a:r>
          </a:p>
        </p:txBody>
      </p:sp>
      <p:sp>
        <p:nvSpPr>
          <p:cNvPr id="3" name="Rounded Rectangle 2"/>
          <p:cNvSpPr/>
          <p:nvPr/>
        </p:nvSpPr>
        <p:spPr>
          <a:xfrm>
            <a:off x="731520" y="1645920"/>
            <a:ext cx="10728655" cy="46634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149840" cy="4297680"/>
          </a:xfrm>
          <a:prstGeom prst="rect">
            <a:avLst/>
          </a:prstGeom>
          <a:noFill/>
        </p:spPr>
        <p:txBody>
          <a:bodyPr wrap="square">
            <a:spAutoFit/>
          </a:bodyPr>
          <a:lstStyle/>
          <a:p>
            <a:pPr>
              <a:spcAft>
                <a:spcPts val="1000"/>
              </a:spcAft>
              <a:defRPr sz="1350">
                <a:solidFill>
                  <a:srgbClr val="0F172A"/>
                </a:solidFill>
              </a:defRPr>
            </a:pPr>
            <a:r>
              <a:t>• Non-Conflation of Correlation &amp; Causation: The system strictly presents statistical associations as hypotheses and systematically surfaces competing explanations.</a:t>
            </a:r>
          </a:p>
          <a:p>
            <a:pPr>
              <a:spcAft>
                <a:spcPts val="1000"/>
              </a:spcAft>
              <a:defRPr sz="1350">
                <a:solidFill>
                  <a:srgbClr val="0F172A"/>
                </a:solidFill>
              </a:defRPr>
            </a:pPr>
            <a:r>
              <a:t>• Robust Outlier Normalization: Uses Median Absolute Deviation (MAD), eliminating sensitivity to extreme noise that compromises standard deviations.</a:t>
            </a:r>
          </a:p>
          <a:p>
            <a:pPr>
              <a:spcAft>
                <a:spcPts val="1000"/>
              </a:spcAft>
              <a:defRPr sz="1350">
                <a:solidFill>
                  <a:srgbClr val="0F172A"/>
                </a:solidFill>
              </a:defRPr>
            </a:pPr>
            <a:r>
              <a:t>• Automated Control Cohort Validation: Validates that regional shifts are genuine localized anomalies rather than system-wide macro trends.</a:t>
            </a:r>
          </a:p>
          <a:p>
            <a:pPr>
              <a:spcAft>
                <a:spcPts val="1000"/>
              </a:spcAft>
              <a:defRPr sz="1350">
                <a:solidFill>
                  <a:srgbClr val="0F172A"/>
                </a:solidFill>
              </a:defRPr>
            </a:pPr>
            <a:r>
              <a:t>• Evidence-Backed AI Assistant: Operates via deterministic analytical tool retrieval. Never hallucinates numbers or executes unrestricted SQL.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698480" cy="1005840"/>
          </a:xfrm>
          <a:prstGeom prst="rect">
            <a:avLst/>
          </a:prstGeom>
          <a:noFill/>
        </p:spPr>
        <p:txBody>
          <a:bodyPr wrap="square">
            <a:spAutoFit/>
          </a:bodyPr>
          <a:lstStyle/>
          <a:p>
            <a:pPr>
              <a:defRPr sz="2800" b="1">
                <a:solidFill>
                  <a:srgbClr val="0F172A"/>
                </a:solidFill>
              </a:defRPr>
            </a:pPr>
            <a:r>
              <a:t>Analytical Evaluation &amp; Empirical Metrics</a:t>
            </a:r>
          </a:p>
          <a:p>
            <a:pPr>
              <a:defRPr sz="1300">
                <a:solidFill>
                  <a:srgbClr val="6366F1"/>
                </a:solidFill>
              </a:defRPr>
            </a:pPr>
            <a:r>
              <a:t>Evaluated strictly against recorded ground-truth synthetic anomaly injections</a:t>
            </a:r>
          </a:p>
        </p:txBody>
      </p:sp>
      <p:sp>
        <p:nvSpPr>
          <p:cNvPr id="3" name="Rounded Rectangle 2"/>
          <p:cNvSpPr/>
          <p:nvPr/>
        </p:nvSpPr>
        <p:spPr>
          <a:xfrm>
            <a:off x="731520" y="1645920"/>
            <a:ext cx="10728655" cy="46634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149840" cy="4297680"/>
          </a:xfrm>
          <a:prstGeom prst="rect">
            <a:avLst/>
          </a:prstGeom>
          <a:noFill/>
        </p:spPr>
        <p:txBody>
          <a:bodyPr wrap="square">
            <a:spAutoFit/>
          </a:bodyPr>
          <a:lstStyle/>
          <a:p>
            <a:pPr>
              <a:spcAft>
                <a:spcPts val="1000"/>
              </a:spcAft>
              <a:defRPr sz="1350">
                <a:solidFill>
                  <a:srgbClr val="0F172A"/>
                </a:solidFill>
              </a:defRPr>
            </a:pPr>
            <a:r>
              <a:t>• SignalFire Multi-Metric Detector: Precision = 71.4% | Recall = 100.0% | F1-Score = 0.833 (0 False Negatives across all injected crises).</a:t>
            </a:r>
          </a:p>
          <a:p>
            <a:pPr>
              <a:spcAft>
                <a:spcPts val="1000"/>
              </a:spcAft>
              <a:defRPr sz="1350">
                <a:solidFill>
                  <a:srgbClr val="0F172A"/>
                </a:solidFill>
              </a:defRPr>
            </a:pPr>
            <a:r>
              <a:t>• Simple %-Change Baseline Detector: Precision = 45.5% | Recall = 100.0% | F1-Score = 0.625 (Suffers 6 False Positives from seasonal volume noise).</a:t>
            </a:r>
          </a:p>
          <a:p>
            <a:pPr>
              <a:spcAft>
                <a:spcPts val="1000"/>
              </a:spcAft>
              <a:defRPr sz="1350">
                <a:solidFill>
                  <a:srgbClr val="0F172A"/>
                </a:solidFill>
              </a:defRPr>
            </a:pPr>
            <a:r>
              <a:t>• Detection Delay: Anomalies isolated within 1 to 3 observation windows of onset.</a:t>
            </a:r>
          </a:p>
          <a:p>
            <a:pPr>
              <a:spcAft>
                <a:spcPts val="1000"/>
              </a:spcAft>
              <a:defRPr sz="1350">
                <a:solidFill>
                  <a:srgbClr val="0F172A"/>
                </a:solidFill>
              </a:defRPr>
            </a:pPr>
            <a:r>
              <a:t>• Limitation Disclosure: Ground truth is established on synthetic distributions; empirical validation on production non-stationary data is required.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698480" cy="1005840"/>
          </a:xfrm>
          <a:prstGeom prst="rect">
            <a:avLst/>
          </a:prstGeom>
          <a:noFill/>
        </p:spPr>
        <p:txBody>
          <a:bodyPr wrap="square">
            <a:spAutoFit/>
          </a:bodyPr>
          <a:lstStyle/>
          <a:p>
            <a:pPr>
              <a:defRPr sz="2800" b="1">
                <a:solidFill>
                  <a:srgbClr val="0F172A"/>
                </a:solidFill>
              </a:defRPr>
            </a:pPr>
            <a:r>
              <a:t>Target Users &amp; Operational Decision Support</a:t>
            </a:r>
          </a:p>
          <a:p>
            <a:pPr>
              <a:defRPr sz="1300">
                <a:solidFill>
                  <a:srgbClr val="6366F1"/>
                </a:solidFill>
              </a:defRPr>
            </a:pPr>
            <a:r>
              <a:t>Empowering cross-functional teams to act before operational issues compound</a:t>
            </a:r>
          </a:p>
        </p:txBody>
      </p:sp>
      <p:sp>
        <p:nvSpPr>
          <p:cNvPr id="3" name="Rounded Rectangle 2"/>
          <p:cNvSpPr/>
          <p:nvPr/>
        </p:nvSpPr>
        <p:spPr>
          <a:xfrm>
            <a:off x="731520" y="1645920"/>
            <a:ext cx="10728655" cy="46634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149840" cy="4297680"/>
          </a:xfrm>
          <a:prstGeom prst="rect">
            <a:avLst/>
          </a:prstGeom>
          <a:noFill/>
        </p:spPr>
        <p:txBody>
          <a:bodyPr wrap="square">
            <a:spAutoFit/>
          </a:bodyPr>
          <a:lstStyle/>
          <a:p>
            <a:pPr>
              <a:spcAft>
                <a:spcPts val="1000"/>
              </a:spcAft>
              <a:defRPr sz="1350">
                <a:solidFill>
                  <a:srgbClr val="0F172A"/>
                </a:solidFill>
              </a:defRPr>
            </a:pPr>
            <a:r>
              <a:t>• Retail Operations Managers: Uncover localized carrier hub breakdowns before customer delivery complaints trigger mass returns.</a:t>
            </a:r>
          </a:p>
          <a:p>
            <a:pPr>
              <a:spcAft>
                <a:spcPts val="1000"/>
              </a:spcAft>
              <a:defRPr sz="1350">
                <a:solidFill>
                  <a:srgbClr val="0F172A"/>
                </a:solidFill>
              </a:defRPr>
            </a:pPr>
            <a:r>
              <a:t>• Supply Chain Analysts: Trace inventory stockouts directly to upstream transit delays and supplier defect rates.</a:t>
            </a:r>
          </a:p>
          <a:p>
            <a:pPr>
              <a:spcAft>
                <a:spcPts val="1000"/>
              </a:spcAft>
              <a:defRPr sz="1350">
                <a:solidFill>
                  <a:srgbClr val="0F172A"/>
                </a:solidFill>
              </a:defRPr>
            </a:pPr>
            <a:r>
              <a:t>• Customer Experience &amp; Retention Teams: Understand why repeat purchase rates decline by connecting fulfillment failures to churn.</a:t>
            </a:r>
          </a:p>
          <a:p>
            <a:pPr>
              <a:spcAft>
                <a:spcPts val="1000"/>
              </a:spcAft>
              <a:defRPr sz="1350">
                <a:solidFill>
                  <a:srgbClr val="0F172A"/>
                </a:solidFill>
              </a:defRPr>
            </a:pPr>
            <a:r>
              <a:t>• Risk &amp; Performance Executives: Receive executive PDF summaries with audit trails and verified conclusions for SLA negotiations.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698480" cy="1005840"/>
          </a:xfrm>
          <a:prstGeom prst="rect">
            <a:avLst/>
          </a:prstGeom>
          <a:noFill/>
        </p:spPr>
        <p:txBody>
          <a:bodyPr wrap="square">
            <a:spAutoFit/>
          </a:bodyPr>
          <a:lstStyle/>
          <a:p>
            <a:pPr>
              <a:defRPr sz="2800" b="1">
                <a:solidFill>
                  <a:srgbClr val="0F172A"/>
                </a:solidFill>
              </a:defRPr>
            </a:pPr>
            <a:r>
              <a:t>Future Roadmap &amp; Project Conclusion</a:t>
            </a:r>
          </a:p>
          <a:p>
            <a:pPr>
              <a:defRPr sz="1300">
                <a:solidFill>
                  <a:srgbClr val="6366F1"/>
                </a:solidFill>
              </a:defRPr>
            </a:pPr>
            <a:r>
              <a:t>Scaling cross-dataset intelligence for enterprise operations</a:t>
            </a:r>
          </a:p>
        </p:txBody>
      </p:sp>
      <p:sp>
        <p:nvSpPr>
          <p:cNvPr id="3" name="Rounded Rectangle 2"/>
          <p:cNvSpPr/>
          <p:nvPr/>
        </p:nvSpPr>
        <p:spPr>
          <a:xfrm>
            <a:off x="731520" y="1645920"/>
            <a:ext cx="10728655" cy="46634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149840" cy="4297680"/>
          </a:xfrm>
          <a:prstGeom prst="rect">
            <a:avLst/>
          </a:prstGeom>
          <a:noFill/>
        </p:spPr>
        <p:txBody>
          <a:bodyPr wrap="square">
            <a:spAutoFit/>
          </a:bodyPr>
          <a:lstStyle/>
          <a:p>
            <a:pPr>
              <a:spcAft>
                <a:spcPts val="1000"/>
              </a:spcAft>
              <a:defRPr sz="1350">
                <a:solidFill>
                  <a:srgbClr val="0F172A"/>
                </a:solidFill>
              </a:defRPr>
            </a:pPr>
            <a:r>
              <a:t>• Distributed Exasol Analytics: Scaling from Exasol Personal to multi-node Exasol clusters for multi-billion record datasets.</a:t>
            </a:r>
          </a:p>
          <a:p>
            <a:pPr>
              <a:spcAft>
                <a:spcPts val="1000"/>
              </a:spcAft>
              <a:defRPr sz="1350">
                <a:solidFill>
                  <a:srgbClr val="0F172A"/>
                </a:solidFill>
              </a:defRPr>
            </a:pPr>
            <a:r>
              <a:t>• Unstructured Data Fusion: Ingesting customer support chat transcripts and courier tracking telemetry via multimodal LLM embeddings.</a:t>
            </a:r>
          </a:p>
          <a:p>
            <a:pPr>
              <a:spcAft>
                <a:spcPts val="1000"/>
              </a:spcAft>
              <a:defRPr sz="1350">
                <a:solidFill>
                  <a:srgbClr val="0F172A"/>
                </a:solidFill>
              </a:defRPr>
            </a:pPr>
            <a:r>
              <a:t>• Automated Workflow Triggers: Direct webhook webhooks to ERP systems (SAP, NetSuite) for automated carrier SLA penalty issuance.</a:t>
            </a:r>
          </a:p>
          <a:p>
            <a:pPr>
              <a:spcAft>
                <a:spcPts val="1000"/>
              </a:spcAft>
              <a:defRPr sz="1350">
                <a:solidFill>
                  <a:srgbClr val="0F172A"/>
                </a:solidFill>
              </a:defRPr>
            </a:pPr>
            <a:r>
              <a:t>• SIGNALFIRE AI: Find the warning signs hidden across your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