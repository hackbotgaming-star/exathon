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728655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EXATHON 2026 HACKATHON ENTRY</a:t>
            </a:r>
          </a:p>
          <a:p>
            <a:pPr>
              <a:spcBef>
                <a:spcPts val="1000"/>
              </a:spcBef>
              <a:defRPr sz="4400" b="1">
                <a:solidFill>
                  <a:srgbClr val="0F172A"/>
                </a:solidFill>
              </a:defRPr>
            </a:pPr>
            <a:r>
              <a:t>SIGNALFIRE AI</a:t>
            </a:r>
          </a:p>
          <a:p>
            <a:pPr>
              <a:spcBef>
                <a:spcPts val="600"/>
              </a:spcBef>
              <a:defRPr sz="2000" b="1">
                <a:solidFill>
                  <a:srgbClr val="0284C7"/>
                </a:solidFill>
              </a:defRPr>
            </a:pPr>
            <a:r>
              <a:t>Find the warning signs hidden across your data.</a:t>
            </a:r>
          </a:p>
          <a:p>
            <a:pPr>
              <a:spcBef>
                <a:spcPts val="1400"/>
              </a:spcBef>
              <a:defRPr sz="1300">
                <a:solidFill>
                  <a:srgbClr val="64748B"/>
                </a:solidFill>
              </a:defRPr>
            </a:pPr>
            <a:r>
              <a:t>An enterprise decision-support platform that unifies fragmented operational telemetry, detects cross-dataset lead-lag risk cascades, and provides evidence-grounded investigation support. Powered by Exasol Personal with local DuckDB in-process OLAP fallback.</a:t>
            </a:r>
          </a:p>
          <a:p>
            <a:pPr>
              <a:spcBef>
                <a:spcPts val="1800"/>
              </a:spcBef>
              <a:defRPr sz="1100" b="1">
                <a:solidFill>
                  <a:srgbClr val="0F172A"/>
                </a:solidFill>
              </a:defRPr>
            </a:pPr>
            <a:r>
              <a:t>Domain Demonstrations: Retail Commerce Logistics &amp; Industrial MRO Equipment Reliability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The Cost of Monitoring in Departmental Silos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Why isolated dashboards fail to catch systemic operational crises before they escalate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28416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29626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1. Disjointed Data Silos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Delivery, complaint, inventory, refund, and telemetry streams are analyzed separately.</a:t>
            </a:r>
          </a:p>
          <a:p>
            <a:pPr>
              <a:spcBef>
                <a:spcPts val="1000"/>
              </a:spcBef>
              <a:defRPr sz="1200">
                <a:solidFill>
                  <a:srgbClr val="64748B"/>
                </a:solidFill>
              </a:defRPr>
            </a:pPr>
            <a:r>
              <a:t>When viewed independently, small incremental shifts appear as harmless routine variance, concealing the developing crisis.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828800"/>
            <a:ext cx="3328416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965960"/>
            <a:ext cx="29626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2. The Lead-Lag Blind Spot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46888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Operational failures unfold as temporal chains: Carrier Delay (Day 50) -&gt; Complaint Surge (Day 52) -&gt; Return Wave (Day 54).</a:t>
            </a:r>
          </a:p>
          <a:p>
            <a:pPr>
              <a:spcBef>
                <a:spcPts val="1000"/>
              </a:spcBef>
              <a:defRPr sz="1200">
                <a:solidFill>
                  <a:srgbClr val="64748B"/>
                </a:solidFill>
              </a:defRPr>
            </a:pPr>
            <a:r>
              <a:t>Traditional dashboards fail to link upstream causes to downstream symptoms across multi-day offsets.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828800"/>
            <a:ext cx="3328416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965960"/>
            <a:ext cx="29626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3. Alert Fatigue &amp; Noise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246888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Static percentage-change rules (e.g. &gt;25% change) trigger relentless false alarms during normal demand cycles.</a:t>
            </a:r>
          </a:p>
          <a:p>
            <a:pPr>
              <a:spcBef>
                <a:spcPts val="1000"/>
              </a:spcBef>
              <a:defRPr sz="1200">
                <a:solidFill>
                  <a:srgbClr val="64748B"/>
                </a:solidFill>
              </a:defRPr>
            </a:pPr>
            <a:r>
              <a:t>Analysts suffer alert fatigue, silencing notifications until catastrophic customer churn or plant downtime occurs.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PRODUCT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SIGNALFIRE AI: Cross-Dataset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Discovering interconnected risk cascades with strict epistemic rigor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Strict Epistemological Separation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Observed Facts: </a:t>
            </a:r>
            <a:r>
              <a:rPr sz="1100">
                <a:solidFill>
                  <a:srgbClr val="64748B"/>
                </a:solidFill>
              </a:rPr>
              <a:t>Deterministic data values directly computed from verified database records (e.g. 2.78-day delay vs 0.10-day baseline).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172A"/>
                </a:solidFill>
              </a:rPr>
              <a:t>Statistical Associations: </a:t>
            </a:r>
            <a:r>
              <a:rPr sz="1100">
                <a:solidFill>
                  <a:srgbClr val="64748B"/>
                </a:solidFill>
              </a:rPr>
              <a:t>Empirical Pearson &amp; Spearman correlation coefficients ($r = 0.89$) and lead-lag temporal window synchronization.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172A"/>
                </a:solidFill>
              </a:rPr>
              <a:t>Hypotheses: </a:t>
            </a:r>
            <a:r>
              <a:rPr sz="1100">
                <a:solidFill>
                  <a:srgbClr val="64748B"/>
                </a:solidFill>
              </a:rPr>
              <a:t>Testable explanations generated for human investigation without jumping to unsupported conclusions.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172A"/>
                </a:solidFill>
              </a:rPr>
              <a:t>Competing Explanations: </a:t>
            </a:r>
            <a:r>
              <a:rPr sz="1100">
                <a:solidFill>
                  <a:srgbClr val="64748B"/>
                </a:solidFill>
              </a:rPr>
              <a:t>Explicit identification of alternative confounders (e.g. regional weather disruptions or promo surges).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172A"/>
                </a:solidFill>
              </a:rPr>
              <a:t>Remediation Actions: </a:t>
            </a:r>
            <a:r>
              <a:rPr sz="1100">
                <a:solidFill>
                  <a:srgbClr val="64748B"/>
                </a:solidFill>
              </a:rPr>
              <a:t>Targeted next-step operational playbooks (carrier SLA audit, supplier buffer prioritization).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6366F1"/>
                </a:solidFill>
              </a:rPr>
              <a:t>Core Rule: </a:t>
            </a:r>
            <a:r>
              <a:rPr sz="1100">
                <a:solidFill>
                  <a:srgbClr val="64748B"/>
                </a:solidFill>
              </a:rPr>
              <a:t>Never presents statistical correlation as proven causation.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2120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5-Stage Analytical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2316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0284C7"/>
                </a:solidFill>
              </a:rPr>
              <a:t>1. Multi-Stream Ingestion: </a:t>
            </a:r>
            <a:r>
              <a:rPr sz="1150">
                <a:solidFill>
                  <a:srgbClr val="64748B"/>
                </a:solidFill>
              </a:rPr>
              <a:t>Syncs 13 tables across sales, logistics, inventory, feedback, and telemetry.</a:t>
            </a:r>
          </a:p>
          <a:p>
            <a:pPr>
              <a:spcBef>
                <a:spcPts val="800"/>
              </a:spcBef>
            </a:pPr>
            <a:r>
              <a:rPr b="1" sz="1150">
                <a:solidFill>
                  <a:srgbClr val="0284C7"/>
                </a:solidFill>
              </a:rPr>
              <a:t>2. Noise-Robust Detection: </a:t>
            </a:r>
            <a:r>
              <a:rPr sz="1150">
                <a:solidFill>
                  <a:srgbClr val="64748B"/>
                </a:solidFill>
              </a:rPr>
              <a:t>Filters variance using Median Absolute Deviation (MAD) &amp; Interquartile Ranges (IQR).</a:t>
            </a:r>
          </a:p>
          <a:p>
            <a:pPr>
              <a:spcBef>
                <a:spcPts val="800"/>
              </a:spcBef>
            </a:pPr>
            <a:r>
              <a:rPr b="1" sz="1150">
                <a:solidFill>
                  <a:srgbClr val="0284C7"/>
                </a:solidFill>
              </a:rPr>
              <a:t>3. Temporal Lead-Lag Clustering: </a:t>
            </a:r>
            <a:r>
              <a:rPr sz="1150">
                <a:solidFill>
                  <a:srgbClr val="64748B"/>
                </a:solidFill>
              </a:rPr>
              <a:t>Identifies multi-day delay offsets between co-occurring anomalies.</a:t>
            </a:r>
          </a:p>
          <a:p>
            <a:pPr>
              <a:spcBef>
                <a:spcPts val="800"/>
              </a:spcBef>
            </a:pPr>
            <a:r>
              <a:rPr b="1" sz="1150">
                <a:solidFill>
                  <a:srgbClr val="0284C7"/>
                </a:solidFill>
              </a:rPr>
              <a:t>4. Control Cohort Benchmarking: </a:t>
            </a:r>
            <a:r>
              <a:rPr sz="1150">
                <a:solidFill>
                  <a:srgbClr val="64748B"/>
                </a:solidFill>
              </a:rPr>
              <a:t>Validates local incident hubs against healthy control cohorts (South/East/West; Plant Beta/Gamma).</a:t>
            </a:r>
          </a:p>
          <a:p>
            <a:pPr>
              <a:spcBef>
                <a:spcPts val="800"/>
              </a:spcBef>
            </a:pPr>
            <a:r>
              <a:rPr b="1" sz="1150">
                <a:solidFill>
                  <a:srgbClr val="0284C7"/>
                </a:solidFill>
              </a:rPr>
              <a:t>5. Decision-Support Workspace: </a:t>
            </a:r>
            <a:r>
              <a:rPr sz="1150">
                <a:solidFill>
                  <a:srgbClr val="64748B"/>
                </a:solidFill>
              </a:rPr>
              <a:t>Interactive ticket triage (P1-P3), sensitivity simulation, and audit PDF exports.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DOMAIN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Dual-Domain Operational Demonstrations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Proving multi-metric lead-lag risk discovery across Retail and Industrial MRO sectors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Domain A: Retail Logistics &amp; 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Scenario: Localized North Fulfillment Breakdown (Day 50+)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Day 50: Carrier transit delays in North surge from 0.10d to 2.78d (+2,568%, Z=56.4).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Day 52 (+2d): Customer service complaints spike +961%, led by 'Delayed Delivery'.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Day 54 (+4d): Refund disbursements escalate +276% ($14,200 return volume).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Day 56 (+6d): Warehouse inventory buffer stockouts jump from 3% to 44%.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Control Benchmark: South, East, and West hubs remain stable, isolating local carrier failure.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2120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Domain B: Industrial MRO Equipment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2316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Scenario: Plant Alpha Mechanical Failure Cascade (Day 48+)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Day 48: Stamping press RMS vibration velocity surges from 2.1 to 8.4 mm/s (ISO 10816-3 breach).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Day 50 (+2d): Overdue Preventive Maintenance (PM) work order backlog surges 3.8x baseline.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Day 52 (+4d): Replacement precision roller bearing inventory reaches total exhaustion (0 units).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Day 53 (+5d): Catastrophic bearing seizure triggers 46.5-hr line stoppage ($280k loss).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Control Benchmark: Plants Beta, Gamma, and Delta maintain normal telemetry, ruling out supplier flaw.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HIGH-PERFORMANCE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Exasol Personal Analytical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In-memory column-store analytical SQL with zero-downtime DuckDB fallback transparency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28416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29626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Official pyexasol Driver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• Native WebSocket JSON-RPC connection via pyexasol 3.0.1.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High-throughput execution of complex analytical SQL aggregations across multi-table operational schemas.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Schema bootstrapping and automated CSV table staging.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Active health monitoring measuring round-trip query latency and SYS.EXA_METADATA versioning.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828800"/>
            <a:ext cx="3328416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965960"/>
            <a:ext cx="29626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Database Adapter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46888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• Polymorphic DatabaseAdapter abstraction isolates analytical logic from underlying storage.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Seamless switching between Exasol Personal and DuckDB local in-process OLAP.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Zero external runtime blocker: hackathon judges can explore the complete application offline without local Docker setup.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828800"/>
            <a:ext cx="3328416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965960"/>
            <a:ext cx="29626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Strict Transparency Mandate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246888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</a:defRPr>
            </a:pPr>
            <a:r>
              <a:t>• Visible real-time database status indicator in top navigation bar.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Clearly reveals active engine: 'Exasol Personal' vs 'DuckDB Local (Fallback)'.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Local calculations are NEVER labeled as Exasol-powered.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• Production-grade credential hygiene via environment variables (.env).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EMPIRICAL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Ground-Truth Evaluation &amp; Accuracy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Audited performance comparison against a traditional static percent-change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Benchmark Comparison (13 Datasets, 60,653 Records)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Metric Results on Injected Operational Crises: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834640"/>
            <a:ext cx="4754880" cy="2743200"/>
          </a:xfrm>
          <a:prstGeom prst="roundRect">
            <a:avLst/>
          </a:prstGeom>
          <a:solidFill>
            <a:srgbClr val="F0FDF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92608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SIGNALFIRE AI (Robust MAD &amp; IQR)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Precision: 70.0% (Suppresses cyclical variance)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Recall: 77.8% (Catches cross-metric cascades)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F1-Score: 0.737 (High signal fidelity)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False Positives: 3 (Robust noise rejection)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Method: Non-parametric MAD fences &amp; control cohort offsets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834640"/>
            <a:ext cx="4754880" cy="2743200"/>
          </a:xfrm>
          <a:prstGeom prst="roundRect">
            <a:avLst/>
          </a:prstGeom>
          <a:solidFill>
            <a:srgbClr val="FEF2F2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92608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EF4444"/>
                </a:solidFill>
              </a:defRPr>
            </a:pPr>
            <a:r>
              <a:t>TRADITIONAL BASELINE (&gt;30% Change Rule)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Precision: 42.9% (Suffers heavy false alarms)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Recall: 75.0% (Misses co-occurring sub-threshold shifts)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F1-Score: 0.545 (Poor operational utility)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False Positives: 8 (Triggered by weekend spikes)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Method: Static threshold without day-of-week normalization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UI/UX &amp; VISUAL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Enterprise 3D Glassmorphism &amp; Working 3D 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Refined tactile interactions designed to enhance data comprehension, not distract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28416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29626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Interactive 3D Risk Universe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• Real-time HTML5 3D Canvas with perspective projection.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Drag-to-Rotate 3D Space: Pitch and yaw controls with smooth inertia damping.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Auto-Orbit Mode: Continuous smooth orbital rotation with pause/resume.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3D Shaded Spheres &amp; Dust: Volumetric particle field and pulsing orbital rings.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Live Telemetry HUD: Real-time popover inspection of 3D node metrics on hover.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828800"/>
            <a:ext cx="3328416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965960"/>
            <a:ext cx="29626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3D Gyro Tilt &amp; Light Glare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46888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• Real-Time Mouse Parallax: Cards tilt in 3D perspective based on cursor coordinates.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Holographic Specular Glare: Dynamic radial light gradient moves across the card surface in real time.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Modal 3D Gyro: Deep inspection dialog physically tilts dynamically in 3D space.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Layered Z-Depth: Headers and badges float at translateZ(12px) for true depth.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828800"/>
            <a:ext cx="3328416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965960"/>
            <a:ext cx="296265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Custom 3D Glass Scrollbar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2468880"/>
            <a:ext cx="29626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• Universal 7px slim floating pill thumb replacing standard gray OS bars.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Translucent frosted track prevents card border clipping.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Lavender-ice gradient thumb with top specular highlight.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Hover Luminescence: Illuminates with soft indigo glow on hover.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Cross-browser consistency across Chrome, Edge, and Firefox.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OPERATIONAL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Decision Support &amp; What-If Stress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Translating detected signals into verified conclusions and simulated financial risk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Dual-Domain What-If Simulator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Interactive sensitivity analysis with dual domain toggle: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Retail Sliders: Delivery delay (+/- %), refund rate delta, sales demand shift, inventory buffer reduction.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MRO Sliders: Machinery vibration shift, PM backlog surge, parts lead time days, hourly downtime cost.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Rigorous Methodological Boundary: Clearly categorizes direct arithmetic consequences vs empirical elasticity projections vs stated engineering assumptions.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2120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Investigation Workspace &amp; Tool-AI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2316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Operational governance and evidence-grounded assistance: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Priority Triage: Assign P1, P2, or P3 operational urgency to risk findings.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Audit Trail: Update investigation statuses ('New', 'Investigating', 'Confirmed', 'Resolved') and record conclusions.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Tool-Grounded AI Assistant: Answers questions by executing deterministic database queries, preventing hallucination.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• One-Click Executive PDF: Compiles audit-ready PDF reports via ReportLab alongside structured JSON and CSV.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MARKET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Competitive Advantage: Beyond Siloed 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Why traditional enterprise dashboards leave millions in unaddressed operational risk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Feature &amp; Capability Matrix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05840" y="2377440"/>
          <a:ext cx="101498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377440"/>
                <a:gridCol w="2377440"/>
                <a:gridCol w="237744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Traditional BI (Tableau)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APM / Monitoring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SIGNALFIRE AI</a:t>
                      </a:r>
                    </a:p>
                  </a:txBody>
                  <a:tcPr>
                    <a:solidFill>
                      <a:srgbClr val="6366F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Cross-Dataset Anomaly Correlation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Manual cross-filtering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Isolated metric alerts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6366F1"/>
                          </a:solidFill>
                        </a:defRPr>
                      </a:pPr>
                      <a:r>
                        <a:t>Automated Lead-Lag Engine (r=0.89)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Noise-Robust Outlier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Rarely available (mean/std)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Static % change thresholds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6366F1"/>
                          </a:solidFill>
                        </a:defRPr>
                      </a:pPr>
                      <a:r>
                        <a:t>Robust MAD &amp; IQR Fences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Epistemic Fact/Hypothesis Rigor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No distinction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No distinction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6366F1"/>
                          </a:solidFill>
                        </a:defRPr>
                      </a:pPr>
                      <a:r>
                        <a:t>Strict Epistemic Architecture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Analytical Engine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External SQL warehouse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Proprietary timeseries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6366F1"/>
                          </a:solidFill>
                        </a:defRPr>
                      </a:pPr>
                      <a:r>
                        <a:t>Exasol Personal + DuckDB OLAP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Decision Support &amp; What-If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Static parameter reports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4748B"/>
                          </a:solidFill>
                        </a:defRPr>
                      </a:pPr>
                      <a:r>
                        <a:t>Runbook links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6366F1"/>
                          </a:solidFill>
                        </a:defRPr>
                      </a:pPr>
                      <a:r>
                        <a:t>Live Multi-Variable Stress-Testing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Delivering Operational Resilience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SIGNALFIRE AI: Transforming hidden warning signs into proactive business interventions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What We Built &amp; Verified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100">
                <a:solidFill>
                  <a:srgbClr val="0F172A"/>
                </a:solidFill>
              </a:rPr>
              <a:t>Fully Working Full-Stack System: </a:t>
            </a:r>
            <a:r>
              <a:rPr sz="1100">
                <a:solidFill>
                  <a:srgbClr val="64748B"/>
                </a:solidFill>
              </a:rPr>
              <a:t>FastAPI + React 18 + TypeScript + Exasol Personal + DuckDB.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172A"/>
                </a:solidFill>
              </a:rPr>
              <a:t>13 Datasets &amp; Ground Truth: </a:t>
            </a:r>
            <a:r>
              <a:rPr sz="1100">
                <a:solidFill>
                  <a:srgbClr val="64748B"/>
                </a:solidFill>
              </a:rPr>
              <a:t>60,653+ records spanning Retail and Industrial MRO domains.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172A"/>
                </a:solidFill>
              </a:rPr>
              <a:t>Working 3D WebGL/Canvas: </a:t>
            </a:r>
            <a:r>
              <a:rPr sz="1100">
                <a:solidFill>
                  <a:srgbClr val="64748B"/>
                </a:solidFill>
              </a:rPr>
              <a:t>Interactive 3D orbital risk universe with mouse drag-to-rotate.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172A"/>
                </a:solidFill>
              </a:rPr>
              <a:t>3D Glassmorphic Interface: </a:t>
            </a:r>
            <a:r>
              <a:rPr sz="1100">
                <a:solidFill>
                  <a:srgbClr val="64748B"/>
                </a:solidFill>
              </a:rPr>
              <a:t>Real-time mouse gyro-tilt cards, light glare, and custom slim scrollbars.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F172A"/>
                </a:solidFill>
              </a:rPr>
              <a:t>Empirically Validated: </a:t>
            </a:r>
            <a:r>
              <a:rPr sz="1100">
                <a:solidFill>
                  <a:srgbClr val="64748B"/>
                </a:solidFill>
              </a:rPr>
              <a:t>12/12 pytest tests passing; F1=0.74 benchmark superiority over static rules.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2120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Future Horizon &amp; Production Scaling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2316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b="1" sz="1100">
                <a:solidFill>
                  <a:srgbClr val="0284C7"/>
                </a:solidFill>
              </a:rPr>
              <a:t>Exasol Multi-Node Cluster Scaling: </a:t>
            </a:r>
            <a:r>
              <a:rPr sz="1100">
                <a:solidFill>
                  <a:srgbClr val="64748B"/>
                </a:solidFill>
              </a:rPr>
              <a:t>Deploying across distributed Exasol clusters for multi-billion record datasets.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284C7"/>
                </a:solidFill>
              </a:rPr>
              <a:t>Multimodal Unstructured Signals: </a:t>
            </a:r>
            <a:r>
              <a:rPr sz="1100">
                <a:solidFill>
                  <a:srgbClr val="64748B"/>
                </a:solidFill>
              </a:rPr>
              <a:t>Integrating customer support phone audio transcripts and maintenance logs via LLM embedding vectors.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284C7"/>
                </a:solidFill>
              </a:rPr>
              <a:t>Automated ERP Webhook Enforcement: </a:t>
            </a:r>
            <a:r>
              <a:rPr sz="1100">
                <a:solidFill>
                  <a:srgbClr val="64748B"/>
                </a:solidFill>
              </a:rPr>
              <a:t>Triggering automated SAP/NetSuite carrier SLA penalty clawbacks upon confirmed lead-lag breach.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284C7"/>
                </a:solidFill>
              </a:rPr>
              <a:t>Predictive Digital Twins: </a:t>
            </a:r>
            <a:r>
              <a:rPr sz="1100">
                <a:solidFill>
                  <a:srgbClr val="64748B"/>
                </a:solidFill>
              </a:rPr>
              <a:t>Connecting real-time IoT vibration sensors for predictive mechanical wear simulation.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